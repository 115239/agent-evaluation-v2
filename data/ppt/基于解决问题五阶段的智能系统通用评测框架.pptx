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notesSlides/notesSlide1.xml" Type="http://schemas.openxmlformats.org/officeDocument/2006/relationships/notesSlide"/><Relationship Id="rId28" Target="notesSlides/notesSlide2.xml" Type="http://schemas.openxmlformats.org/officeDocument/2006/relationships/notesSlide"/><Relationship Id="rId29" Target="notesSlides/notesSlide3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4.xml" Type="http://schemas.openxmlformats.org/officeDocument/2006/relationships/notesSlide"/><Relationship Id="rId31" Target="notesSlides/notesSlide5.xml" Type="http://schemas.openxmlformats.org/officeDocument/2006/relationships/notesSlide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43" Target="notesSlides/notesSlide17.xml" Type="http://schemas.openxmlformats.org/officeDocument/2006/relationships/notesSlide"/><Relationship Id="rId44" Target="notesSlides/notesSlide18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大家好，今天我将为大家介绍一套全新的智能系统评测框架。这个框架的核心目的，是替代传统的功能点测试，让我们能够直接预测系统上线后的实际业务表现。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它基于一个简单而深刻的理念：评测智能系统的最佳方式，就是评测人类解决问题能力的方式。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接下来，我将详细阐述这个框架的设计思想、流程和应用方法。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八个部分。首先，我们会探讨为什么传统评测方法已经失效，以及我们为什么需要一套新的框架。接着，我会详细介绍这套框架的六个标准化步骤、五阶段的核心定义，以及如何设计关键的评测题目和评分标准。之后，我会通过一个电力企业大脑的案例来具体展示如何应用这套框架。最后，我们会总结常见的评测误区并进行总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首先，我们来看看为什么需要一套新的评测框架。传统的功能点测试，在面对现代智能系统时已经显得力不从心。它只能验证系统“能不能做”某个操作，却无法评估它“能不能解决”一个真实的业务问题。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其次，它无法应对未知的、模糊的需求，导致评估结果与实际业务表现严重脱节。很多时候，测试通过率100%的系统，在真实场景下的人工转接率却居高不下。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更重要的是，它无法区分一个系统是在真正地思考，还是仅仅在背诵预设的答案。这也是我们急需建立新的评测标准的核心原因。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智能系统的本质是什么？它和传统软件有根本的区别。传统软件是按预设规则执行任务，而智能系统是一个自主的问题解决者。它能处理从未见过的新问题，拥有一个完整的“感知-认知-决策-执行-反馈”的闭环。这就引出了我们的核心结论：要评测这样的系统，最好的方式就是借鉴我们评价人类解决问题能力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这套框架的核心思想非常明确。首先，一切评测都必须以业务表现为最终导向，我们关心的是系统上线后能带来什么实际价值。其次，我们的核心逻辑是通过测试系统解决少数几个核心复杂问题的能力，来推断它解决同类问题的整体能力。最后，整个框架的理论基础是经典的“解决问题五阶段模型”，这保证了我们评测方法的科学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评测流程是标准化的，分为六个步骤。首先，也是最重要的一步，是明确业务目标。然后，我们设计3个分层的统一题目，准备好真实的测试环境和数据。接下来，执行测试并详细记录过程。之后，按照五阶段模型进行逐步骤评分。最后，输出一份包含改进建议的评估报告。请大家记住，第一步明确业务目标是整个流程的基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评测的核心，就是这五个阶段。第一阶段是定义问题，考察系统是否能理解用户的真实意图。第二阶段是拆解问题，看它是否能将复杂任务结构化。第三阶段是方案生成，评估它整合信息和提供备选方案的能力。第四阶段是执行落地，看它能否真正动手解决问题。最后是元认知，这是衡量系统智能水平的关键，看它是否知道自己的边界和不足。每个阶段都至关重要，任何一个环节的薄弱都会导致任务失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可能会问，为什么是3个题目？这背后有科学依据。只用1个题目，偶然性太大，结果不可靠。用10个以上题目，虽然更全面，但边际效益急剧递减，非常耗时。而3个题目，恰好达到了统计置信度和评估效率的最佳平衡点，既能排除大部分运气因素，又能覆盖主要业务场景，同时将评估时间控制在合理范围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设计每一个统一题时，我们都遵循六个核心原则。首先，题目必须是真实的，来源于实际业务。其次，它必须是一个需要走完完整五阶段流程的闭环任务。同时，题目要包含真实的约束条件和常见的干扰项，以测试系统的鲁棒性。此外，题目不应有唯一标准答案，并且要能让我们清晰地观察到系统的思考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评分环节同样有严格的原则。我们强调过程重于结果，并且严格按照五阶段进行评分，而不是只给一个笼统的总分。评分标准是量化和可执行的，避免主观判断。具体来说，每个题目满分10分，我们为五个阶段分配了不同的权重。特别重要的是，我们设立了“致命扣分点”和“一票否决项”，尤其是在安全合规方面，这是不可逾越的红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根据总分，我们将系统分为三个等级：优秀、合格和不合格。每个等级都对应着明确的预期业务表现和上线建议。例如，得分在25到30分的优秀系统，可以独立处理90%的日常事务，我们建议立即上线。而得分在18分以下的不合格系统，只能作为简单的搜索工具，我们建议重新优化，不应急于上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现在，让我们通过一个具体的案例来看看这套框架是如何应用的。以一个电力企业大脑为例，我们的核心业务目标是实现85%的内部知识查询自动解决。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我们设计了三个题目：基础题是查询明确的巡检制度，进阶题是处理复杂的设备异常，高难度题则是为经理准备一份包含多个信息点的会议材料。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这三个题目覆盖了从简单到复杂的真实业务场景，全方位地测试了企业大脑的理解能力、推理能力和知识整合能力。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一下如何对基础题进行评分。在定义问题阶段，系统表现完美，得了满分。在拆解问题阶段，它遗漏了一个细节，扣了0.5分。方案生成、执行落地和元认知阶段都表现出色。最终，这个题目得到了9.5分的高分。通过这种逐步骤的评分方式，我们可以非常精准地定位系统的优势和短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综合三个题目的得分，我们得出最终的评估结论。这个电力企业大脑的总得分是27分，评级为优秀。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我们预测它上线后，人工求助率将低于10%，知识回答准确率超过92%，并且能帮助新员工将上手时间缩短60%。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因此，我们给出的核心建议是立即上线，并在后续的运行过程中，持续收集反馈，重点优化巡检记录等具体业务场景的细节内容。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整个评估过程清晰、量化，结论明确，希望能为系统的正式上线提供有力的数据支撑。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结束之前，我们总结一下常见的评测误区。首先，不要只测试零散的功能点，一定要测试完整的业务闭环。其次，要关注过程而不仅仅是结果。第三，要用真实的问题而不是假设性问题。第四，不要追求完美，要关注核心业务价值。最后，也是最重要的，绝对不能忽略安全与合规这个底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总结一下。这套框架的核心优势在于它的通用性、客观性、高效性和指导性。它不仅适用于各种智能系统，还能用于评估人类员工。最重要的是，它能帮助我们彻底摆脱“测试通过但上线不好用”的困境，真正实现评测即业务验证，确保我们投入的资源能转化为实实在在的业务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我的汇报到此结束，感谢大家的聆听。现在是提问与交流时间，欢迎大家提出宝贵的意见和问题。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notesSlides/notesSlide6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Relationship Id="rId8" Target="../media/image35.png" Type="http://schemas.openxmlformats.org/officeDocument/2006/relationships/image"/><Relationship Id="rId9" Target="../media/image3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notesSlides/notesSlide10.xml" Type="http://schemas.openxmlformats.org/officeDocument/2006/relationships/notesSlid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43.png" Type="http://schemas.openxmlformats.org/officeDocument/2006/relationships/image"/><Relationship Id="rId9" Target="../media/image4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55.png" Type="http://schemas.openxmlformats.org/officeDocument/2006/relationships/image"/><Relationship Id="rId13" Target="../media/image56.svg" Type="http://schemas.openxmlformats.org/officeDocument/2006/relationships/image"/><Relationship Id="rId14" Target="../media/image57.png" Type="http://schemas.openxmlformats.org/officeDocument/2006/relationships/image"/><Relationship Id="rId15" Target="../media/image58.svg" Type="http://schemas.openxmlformats.org/officeDocument/2006/relationships/image"/><Relationship Id="rId16" Target="../media/image59.png" Type="http://schemas.openxmlformats.org/officeDocument/2006/relationships/image"/><Relationship Id="rId17" Target="../media/image60.svg" Type="http://schemas.openxmlformats.org/officeDocument/2006/relationships/image"/><Relationship Id="rId18" Target="../notesSlides/notesSlide11.xml" Type="http://schemas.openxmlformats.org/officeDocument/2006/relationships/notesSlid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png" Type="http://schemas.openxmlformats.org/officeDocument/2006/relationships/image"/><Relationship Id="rId11" Target="../media/image70.svg" Type="http://schemas.openxmlformats.org/officeDocument/2006/relationships/image"/><Relationship Id="rId12" Target="../media/image71.png" Type="http://schemas.openxmlformats.org/officeDocument/2006/relationships/image"/><Relationship Id="rId13" Target="../media/image72.svg" Type="http://schemas.openxmlformats.org/officeDocument/2006/relationships/image"/><Relationship Id="rId14" Target="../notesSlides/notesSlide13.xml" Type="http://schemas.openxmlformats.org/officeDocument/2006/relationships/notesSlide"/><Relationship Id="rId2" Target="../media/image61.png" Type="http://schemas.openxmlformats.org/officeDocument/2006/relationships/image"/><Relationship Id="rId3" Target="../media/image62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notesSlides/notesSlide15.xml" Type="http://schemas.openxmlformats.org/officeDocument/2006/relationships/notesSlide"/><Relationship Id="rId2" Target="../media/image73.png" Type="http://schemas.openxmlformats.org/officeDocument/2006/relationships/image"/><Relationship Id="rId3" Target="../media/image74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3.png" Type="http://schemas.openxmlformats.org/officeDocument/2006/relationships/image"/><Relationship Id="rId3" Target="../media/image84.sv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7.xml" Type="http://schemas.openxmlformats.org/officeDocument/2006/relationships/notesSlide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91.png" Type="http://schemas.openxmlformats.org/officeDocument/2006/relationships/image"/><Relationship Id="rId9" Target="../media/image9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9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397000"/>
            <a:ext cx="1219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基于解决问题五阶段的</a:t>
            </a:r>
            <a: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智能系统通用评测框架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31115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替代传统功能点测试 · 直接预测上线业务表现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0" y="400050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572000"/>
            <a:ext cx="10668000" cy="1651000"/>
          </a:xfrm>
          <a:prstGeom prst="roundRect">
            <a:avLst>
              <a:gd name="adj" fmla="val 12307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48895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当前版本：</a:t>
            </a:r>
            <a:r>
              <a:rPr lang="en-US" b="true" i="false" strike="noStrike" u="none" sz="18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V1.0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5461000"/>
            <a:ext cx="457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适用场景：企业大脑 / AI Agent / 智能客服 / 智能运维 / 智能数据分析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59557" flipH="false" flipV="false">
            <a:off x="5556250" y="54229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477000" y="4953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[您的姓名]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77000" y="558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E0E0E0"/>
                </a:solidFill>
                <a:latin typeface="Noto Sans SC"/>
                <a:ea typeface="Noto Sans SC"/>
                <a:cs typeface="Noto Sans SC"/>
                <a:sym typeface="Noto Sans SC"/>
              </a:rPr>
              <a:t>汇报日期：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[YYYY年MM月DD日]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3048000" cy="685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2860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81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429000" y="7620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19500" y="9779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73500" y="9144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889500" y="9525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评测框架的必要性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Why do we need a new framework?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29000" y="22225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19500" y="24384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873500" y="23749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89500" y="2413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完整评测标准化流程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6 Steps Standardized Process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29000" y="36830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19500" y="38989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73500" y="38354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889500" y="38735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五阶段核心定义与重点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Core Definition &amp; Key Focus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51435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19500" y="53594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73500" y="52959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889500" y="5334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统一题目的设计原则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 Principles of Unified Design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239000" y="7620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29500" y="9779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83500" y="9144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699500" y="9525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评测评分设计原则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Scoring Design Methodology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239000" y="22225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429500" y="24384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83500" y="23749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699500" y="2413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电力企业大脑应用案例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Case Study: Power Enterprise Brain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239000" y="36830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429500" y="38989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683500" y="38354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699500" y="38735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常见的评测误区警示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Common Evaluation Pitfalls</a:t>
            </a:r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239000" y="5143500"/>
            <a:ext cx="3556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29500" y="5359400"/>
            <a:ext cx="76200" cy="76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683500" y="5295900"/>
            <a:ext cx="889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699500" y="5334000"/>
            <a:ext cx="203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总结回顾与答疑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false" i="false" strike="noStrike" u="none" sz="11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Summary &amp; Q&amp;A Session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传统评测方法的致命缺陷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079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传统功能点测试已完全失效，无法满足现代智能系统的评估需求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778000"/>
            <a:ext cx="2603500" cy="4318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168400" y="2032000"/>
            <a:ext cx="1270000" cy="1270000"/>
          </a:xfrm>
          <a:prstGeom prst="ellipse">
            <a:avLst/>
          </a:prstGeom>
          <a:solidFill>
            <a:srgbClr val="004D4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422400" y="2286000"/>
            <a:ext cx="762000" cy="762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635000" y="3556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只能测“能不能做”</a:t>
            </a: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不能测“能不能解决”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22400" y="4381500"/>
            <a:ext cx="762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" y="4699000"/>
            <a:ext cx="222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很多系统能通过所有单个功能点测试，但无法将多个功能点组合，解决一个完整的真实业务问题。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365500" y="1778000"/>
            <a:ext cx="2603500" cy="4318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025900" y="2032000"/>
            <a:ext cx="1270000" cy="1270000"/>
          </a:xfrm>
          <a:prstGeom prst="ellipse">
            <a:avLst/>
          </a:prstGeom>
          <a:solidFill>
            <a:srgbClr val="004D4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279900" y="2286000"/>
            <a:ext cx="762000" cy="762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492500" y="3556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只能测“已知问题”</a:t>
            </a: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无法覆盖“未知异常”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279900" y="4381500"/>
            <a:ext cx="762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556000" y="4699000"/>
            <a:ext cx="222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测试用例基于预设场景，无法覆盖真实业务中千变万化的模糊需求、边界条件和突发异常情况。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1778000"/>
            <a:ext cx="2603500" cy="4318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83400" y="2032000"/>
            <a:ext cx="1270000" cy="1270000"/>
          </a:xfrm>
          <a:prstGeom prst="ellipse">
            <a:avLst/>
          </a:prstGeom>
          <a:solidFill>
            <a:srgbClr val="004D4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37400" y="2286000"/>
            <a:ext cx="762000" cy="762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350000" y="3556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评估指标单一</a:t>
            </a: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结果与业务表现脱节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37400" y="4381500"/>
            <a:ext cx="762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4699000"/>
            <a:ext cx="222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测试通过率100%的系统，上线后可能面临高达50%以上的人工转接率，无法真实反映业务价值。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080500" y="1778000"/>
            <a:ext cx="2603500" cy="4318000"/>
          </a:xfrm>
          <a:prstGeom prst="roundRect">
            <a:avLst>
              <a:gd name="adj" fmla="val 58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40900" y="2032000"/>
            <a:ext cx="1270000" cy="1270000"/>
          </a:xfrm>
          <a:prstGeom prst="ellipse">
            <a:avLst/>
          </a:prstGeom>
          <a:solidFill>
            <a:srgbClr val="004D4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994900" y="2286000"/>
            <a:ext cx="762000" cy="762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207500" y="35560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无法识别系统逻辑</a:t>
            </a: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区分“真智能”与“背诵”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994900" y="4381500"/>
            <a:ext cx="762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271000" y="4699000"/>
            <a:ext cx="2222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传统测试无法有效区分系统是在基于规则“背诵答案”，还是在通过推理“真正思考”来解决问题。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317500"/>
            <a:ext cx="1219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智能系统的本质：自主问题解决者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06500"/>
            <a:ext cx="5334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98500" y="13970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6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89000" y="1524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5621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传统软件：按预设规则执行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413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603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6500" y="2514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经验固化：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仅能解决程序员预先编码、想到过的问题，缺乏应对突发状况的能力。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429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619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206500" y="3530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流程僵化：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严格遵循“输入-处理-输出”的固定线性流程，面对变化无法灵活变通。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445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4635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06500" y="4546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缺乏适应：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面对新场景或环境变化，无法进行自我调整，系统扩展性与鲁棒性较差。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1206500"/>
            <a:ext cx="5334000" cy="4064000"/>
          </a:xfrm>
          <a:prstGeom prst="roundRect">
            <a:avLst>
              <a:gd name="adj" fmla="val 375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40500" y="1397000"/>
            <a:ext cx="4953000" cy="762000"/>
          </a:xfrm>
          <a:prstGeom prst="roundRect">
            <a:avLst>
              <a:gd name="adj" fmla="val 13333"/>
            </a:avLst>
          </a:prstGeom>
          <a:solidFill>
            <a:srgbClr val="00E67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15240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493000" y="1562100"/>
            <a:ext cx="3810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现代智能系统：自主问题解决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2413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794500" y="2603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048500" y="2514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泛化能力：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突破预编码边界，通过数据驱动分析，能有效解决从未见过的全新复杂问题。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04000" y="3429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794500" y="3619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048500" y="3530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闭环决策：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构建“感知→认知→决策→执行→反馈”的完整动态闭环，实现智能化交互。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04000" y="4445000"/>
            <a:ext cx="4826000" cy="889000"/>
          </a:xfrm>
          <a:prstGeom prst="roundRect">
            <a:avLst>
              <a:gd name="adj" fmla="val 11428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94500" y="4635500"/>
            <a:ext cx="76200" cy="508000"/>
          </a:xfrm>
          <a:prstGeom prst="roundRect">
            <a:avLst>
              <a:gd name="adj" fmla="val 0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048500" y="4546600"/>
            <a:ext cx="4254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持续进化：</a:t>
            </a: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具备自主学习与适应能力，随着数据的持续积累不断优化自身的解决策略。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08000" y="5588000"/>
            <a:ext cx="11176000" cy="825500"/>
          </a:xfrm>
          <a:prstGeom prst="roundRect">
            <a:avLst>
              <a:gd name="adj" fmla="val 24615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016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2000" y="5588000"/>
            <a:ext cx="1066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核心结论：评测智能系统的最佳方式，就是评测人类解决问题能力的方式。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444500"/>
            <a:ext cx="1219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本框架的核心思想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97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828800" y="1778000"/>
            <a:ext cx="1168400" cy="11684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082800" y="2032000"/>
            <a:ext cx="660400" cy="660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以业务表现为最终导向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032000" y="3937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1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评测的目的不是找出所有bug，而是回答“这个系统上线后能帮我们解决多少问题？能节省多少时间？”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397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511800" y="1778000"/>
            <a:ext cx="1168400" cy="11684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65800" y="2032000"/>
            <a:ext cx="660400" cy="660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699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核心逻辑：典型案例验证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0" y="3937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31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如果一个系统能独立解决3个最核心、最复杂的真实业务问题，那它大概率能解决同类型的其他所有问题。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1397000"/>
            <a:ext cx="3302000" cy="4572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54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194800" y="1778000"/>
            <a:ext cx="1168400" cy="11684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48800" y="2032000"/>
            <a:ext cx="660400" cy="660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382000" y="3175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基于科学模型的理论基础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398000" y="3937000"/>
            <a:ext cx="762000" cy="50800"/>
          </a:xfrm>
          <a:prstGeom prst="roundRect">
            <a:avLst>
              <a:gd name="adj" fmla="val 5000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4318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just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基于人类经过几千年验证的“解决问题五阶段模型”，确保评测流程的科学性和最终结果的有效性。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35000" y="3810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完整评测流程（6步标准化）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6350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06500" y="1778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明确业务目标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锚定核心指标与方向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4892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8067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060700" y="1778000"/>
            <a:ext cx="508000" cy="508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6162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162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设计分层题目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构建统一的评估维度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434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609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914900" y="1778000"/>
            <a:ext cx="508000" cy="508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4704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704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准备环境数据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模拟真实的业务场景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1976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5151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69100" y="1778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3246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246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执行测试记录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完整记录测试全过程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0518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693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623300" y="1778000"/>
            <a:ext cx="508000" cy="508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1788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788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五阶段评分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依据模型逐环节打分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906000" y="1270000"/>
            <a:ext cx="1651000" cy="2794000"/>
          </a:xfrm>
          <a:prstGeom prst="roundRect">
            <a:avLst>
              <a:gd name="adj" fmla="val 923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10223500" y="1524000"/>
            <a:ext cx="1016000" cy="1016000"/>
          </a:xfrm>
          <a:prstGeom prst="ellipse">
            <a:avLst/>
          </a:prstGeom>
          <a:solidFill>
            <a:srgbClr val="00E67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10477500" y="1778000"/>
            <a:ext cx="508000" cy="508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10033000" y="26670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033000" y="3175000"/>
            <a:ext cx="1397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输出评估报告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0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形成结论与改进建议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5000" y="4445000"/>
            <a:ext cx="10922000" cy="1524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89000" y="4699000"/>
            <a:ext cx="1016000" cy="1016000"/>
          </a:xfrm>
          <a:prstGeom prst="ellipse">
            <a:avLst/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5" id="3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143000" y="4953000"/>
            <a:ext cx="508000" cy="508000"/>
          </a:xfrm>
          <a:prstGeom prst="rect">
            <a:avLst/>
          </a:prstGeom>
        </p:spPr>
      </p:pic>
      <p:sp>
        <p:nvSpPr>
          <p:cNvPr name="AutoShape 36" id="36"/>
          <p:cNvSpPr/>
          <p:nvPr/>
        </p:nvSpPr>
        <p:spPr>
          <a:xfrm rot="0" flipH="false" flipV="false">
            <a:off x="2159000" y="4699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核心原则：目标先行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2159000" y="5207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EBEBEB"/>
                </a:solidFill>
                <a:latin typeface="Noto Sans SC"/>
                <a:ea typeface="Noto Sans SC"/>
                <a:cs typeface="Noto Sans SC"/>
                <a:sym typeface="Noto Sans SC"/>
              </a:rPr>
              <a:t>第一步“明确业务目标”是所有工作的前提与基石。后续的题目设计、环境准备及评估打分，都必须严格围绕核心业务指标展开，确保评测结果的有效性。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381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五阶段核心定义与考察重点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143000"/>
            <a:ext cx="1143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500" y="12700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71500" y="1333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" y="1714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22500" y="1270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349500" y="1333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能力定义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349500" y="1651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深度理解用户的真实意图与隐含需求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0" y="1270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207000" y="1333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核心考察点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1651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多意图理解、模糊需求澄清能力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937500" y="1270000"/>
            <a:ext cx="2921000" cy="762000"/>
          </a:xfrm>
          <a:prstGeom prst="roundRect">
            <a:avLst>
              <a:gd name="adj" fmla="val 10000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64500" y="1333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业务负面影响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64500" y="16510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答非所问，反复追问用户，效率低下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81000" y="2286000"/>
            <a:ext cx="1143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71500" y="24130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71500" y="2476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71500" y="2857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拆解问题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222500" y="2413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349500" y="2476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能力定义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349500" y="2794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将复杂任务拆解为可执行的小步骤并排序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080000" y="2413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207000" y="2476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核心考察点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207000" y="2794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结构化思维能力、任务优先级判断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37500" y="2413000"/>
            <a:ext cx="2921000" cy="762000"/>
          </a:xfrm>
          <a:prstGeom prst="roundRect">
            <a:avLst>
              <a:gd name="adj" fmla="val 10000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64500" y="2476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业务负面影响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064500" y="27940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思路混乱无逻辑，容易遗漏关键执行步骤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81000" y="3429000"/>
            <a:ext cx="1143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571500" y="35560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71500" y="3619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71500" y="4000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方案生成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222500" y="3556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2349500" y="3619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能力定义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349500" y="3937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筛选整合信息，生成具体可行的备选方案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5080000" y="3556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5207000" y="3619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核心考察点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5207000" y="3937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跨文档信息整合、方案可行性与风险评估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937500" y="3556000"/>
            <a:ext cx="2921000" cy="762000"/>
          </a:xfrm>
          <a:prstGeom prst="roundRect">
            <a:avLst>
              <a:gd name="adj" fmla="val 10000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064500" y="3619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业务负面影响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064500" y="39370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引用错误信息、内容堆砌无重点，方案不可行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381000" y="4572000"/>
            <a:ext cx="1143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571500" y="46990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71500" y="4762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571500" y="5143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执行落地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2222500" y="4699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2349500" y="4762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能力定义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2349500" y="5080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调用外部工具，独立完成实际执行任务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5080000" y="4699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5207000" y="4762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核心考察点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5207000" y="5080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跨工具协同能力、异常情况的自主处理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7937500" y="4699000"/>
            <a:ext cx="2921000" cy="762000"/>
          </a:xfrm>
          <a:prstGeom prst="roundRect">
            <a:avLst>
              <a:gd name="adj" fmla="val 10000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8064500" y="4762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业务负面影响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8064500" y="50800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“纸上谈兵”只能说不能做，遇意外就中断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381000" y="5715000"/>
            <a:ext cx="1143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38100" blurRad="1270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571500" y="5842000"/>
            <a:ext cx="1397000" cy="762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571500" y="5905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571500" y="6286500"/>
            <a:ext cx="139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元认知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2222500" y="5842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2349500" y="5905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能力定义</a:t>
            </a:r>
            <a:endParaRPr lang="en-US" sz="1100"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2349500" y="6223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清楚知道自身的能力边界和知识不足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5080000" y="5842000"/>
            <a:ext cx="2667000" cy="762000"/>
          </a:xfrm>
          <a:prstGeom prst="roundRect">
            <a:avLst>
              <a:gd name="adj" fmla="val 10000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3" id="63"/>
          <p:cNvSpPr/>
          <p:nvPr/>
        </p:nvSpPr>
        <p:spPr>
          <a:xfrm rot="0" flipH="false" flipV="false">
            <a:off x="5207000" y="59055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核心考察点</a:t>
            </a:r>
            <a:endParaRPr lang="en-US" sz="1100"/>
          </a:p>
        </p:txBody>
      </p:sp>
      <p:sp>
        <p:nvSpPr>
          <p:cNvPr name="AutoShape 64" id="64"/>
          <p:cNvSpPr/>
          <p:nvPr/>
        </p:nvSpPr>
        <p:spPr>
          <a:xfrm rot="0" flipH="false" flipV="false">
            <a:off x="5207000" y="6223000"/>
            <a:ext cx="2413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自我纠错能力、数据权限与安全意识</a:t>
            </a:r>
            <a:endParaRPr lang="en-US" sz="1100"/>
          </a:p>
        </p:txBody>
      </p:sp>
      <p:sp>
        <p:nvSpPr>
          <p:cNvPr name="AutoShape 65" id="65"/>
          <p:cNvSpPr/>
          <p:nvPr/>
        </p:nvSpPr>
        <p:spPr>
          <a:xfrm rot="0" flipH="false" flipV="false">
            <a:off x="7937500" y="5842000"/>
            <a:ext cx="2921000" cy="762000"/>
          </a:xfrm>
          <a:prstGeom prst="roundRect">
            <a:avLst>
              <a:gd name="adj" fmla="val 10000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6" id="66"/>
          <p:cNvSpPr/>
          <p:nvPr/>
        </p:nvSpPr>
        <p:spPr>
          <a:xfrm rot="0" flipH="false" flipV="false">
            <a:off x="8064500" y="59055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业务负面影响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 rot="0" flipH="false" flipV="false">
            <a:off x="8064500" y="6223000"/>
            <a:ext cx="266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不懂装懂编造信息，违规泄露敏感内容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381000"/>
            <a:ext cx="1219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为什么偏偏是3个统一题？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0"/>
            <a:ext cx="3556000" cy="4953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3556000" cy="1143000"/>
          </a:xfrm>
          <a:prstGeom prst="roundRect">
            <a:avLst>
              <a:gd name="adj" fmla="val 17777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587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5494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1个题目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20320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偶然性太大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4323" flipH="false" flipV="false">
            <a:off x="76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76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评估结果缺乏可信度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无法有效排除“运气因素”（例如题目刚好出现在模型的训练数据集中），导致单次评估的参考价值极低。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18000" y="1270000"/>
            <a:ext cx="3556000" cy="4953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1270000"/>
            <a:ext cx="3556000" cy="1143000"/>
          </a:xfrm>
          <a:prstGeom prst="roundRect">
            <a:avLst>
              <a:gd name="adj" fmla="val 17777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1587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15494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10个以上题目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334000" y="20320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📉 边际效益递减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14323" flipH="false" flipV="false">
            <a:off x="457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EEEE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投入产出比严重失衡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355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需要花费10倍的时间与资源进行评估，但准确率仅能提升5%-10%，效率低下，不符合业务落地的时效性要求。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270000"/>
            <a:ext cx="3556000" cy="4953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4D40">
                <a:alpha val="2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1270000"/>
            <a:ext cx="3556000" cy="1143000"/>
          </a:xfrm>
          <a:prstGeom prst="roundRect">
            <a:avLst>
              <a:gd name="adj" fmla="val 17777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587500"/>
            <a:ext cx="508000" cy="508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44000" y="15494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3个题目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44000" y="2032000"/>
            <a:ext cx="228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🏆 最佳平衡点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-14323" flipH="false" flipV="false">
            <a:off x="8382013" y="2660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8382000" y="2921000"/>
            <a:ext cx="3048000" cy="889000"/>
          </a:xfrm>
          <a:prstGeom prst="roundRect">
            <a:avLst>
              <a:gd name="adj" fmla="val 11428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09000" y="3111500"/>
            <a:ext cx="304800" cy="3048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9017000" y="3022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高置信度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排除90%以上的运气因素，结果可靠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3937000"/>
            <a:ext cx="3048000" cy="889000"/>
          </a:xfrm>
          <a:prstGeom prst="roundRect">
            <a:avLst>
              <a:gd name="adj" fmla="val 11428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09000" y="4127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9017000" y="4038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强代表性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覆盖80%以上的日常核心业务场景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82000" y="4953000"/>
            <a:ext cx="3048000" cy="889000"/>
          </a:xfrm>
          <a:prstGeom prst="roundRect">
            <a:avLst>
              <a:gd name="adj" fmla="val 11428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509000" y="5143500"/>
            <a:ext cx="304800" cy="3048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017000" y="50546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高效易落地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1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评估时间控制在1-2小时内，成本可控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单个统一题的设计原则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143000" cy="1143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114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2222500"/>
            <a:ext cx="508000" cy="508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159000" y="1524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真实原则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159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159000" y="2286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从真实业务数据中提取核心要素，拒绝凭空想象，确保题目与实际业务场景高度贴合。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175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29000"/>
            <a:ext cx="1143000" cy="1143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19500"/>
            <a:ext cx="114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79500" y="4127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159000" y="3429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闭环原则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159000" y="3937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159000" y="4191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任务设计需覆盖完整的业务五阶段流程，形成“输入-处理-输出”的完整闭环链路。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5080000"/>
            <a:ext cx="5461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270500"/>
            <a:ext cx="1016000" cy="1016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397500"/>
            <a:ext cx="101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5842000"/>
            <a:ext cx="508000" cy="508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159000" y="5270500"/>
            <a:ext cx="330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约束原则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159000" y="5715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794000" y="5651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包含时间限制、资源配额、系统权限等真实约束，还原业务复杂度。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1270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1524000"/>
            <a:ext cx="1143000" cy="1143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1714500"/>
            <a:ext cx="114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794500" y="2222500"/>
            <a:ext cx="508000" cy="508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874000" y="1524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干扰原则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874000" y="2032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874000" y="2286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合理加入1-2个常见的异常数据或操作情况，充分测试系统的容错与鲁棒性。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223000" y="3175000"/>
            <a:ext cx="5461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477000" y="3429000"/>
            <a:ext cx="1143000" cy="1143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477000" y="3619500"/>
            <a:ext cx="114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794500" y="4127500"/>
            <a:ext cx="508000" cy="5080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7874000" y="3429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无标准答案原则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874000" y="3937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874000" y="4191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不预设唯一正确答案，允许不同系统根据其架构特性与数据模型输出差异化的解题思路。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223000" y="5080000"/>
            <a:ext cx="5461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905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477000" y="5270500"/>
            <a:ext cx="1016000" cy="1016000"/>
          </a:xfrm>
          <a:prstGeom prst="ellipse">
            <a:avLst/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477000" y="5397500"/>
            <a:ext cx="1016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731000" y="5842000"/>
            <a:ext cx="508000" cy="508000"/>
          </a:xfrm>
          <a:prstGeom prst="rect">
            <a:avLst/>
          </a:prstGeom>
        </p:spPr>
      </p:pic>
      <p:sp>
        <p:nvSpPr>
          <p:cNvPr name="AutoShape 42" id="42"/>
          <p:cNvSpPr/>
          <p:nvPr/>
        </p:nvSpPr>
        <p:spPr>
          <a:xfrm rot="0" flipH="false" flipV="false">
            <a:off x="7874000" y="5270500"/>
            <a:ext cx="330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可观察原则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7874000" y="5715000"/>
            <a:ext cx="508000" cy="381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509000" y="56515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能够完整复现并清晰展示系统的思考路径、决策逻辑及具体执行步骤。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评分设计原则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143000"/>
            <a:ext cx="5334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核心评分原则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905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22500"/>
            <a:ext cx="4826000" cy="952500"/>
          </a:xfrm>
          <a:prstGeom prst="roundRect">
            <a:avLst>
              <a:gd name="adj" fmla="val 10666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22500"/>
            <a:ext cx="76200" cy="9525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79500" y="24384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778000" y="2349500"/>
            <a:ext cx="368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严格对应五阶段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78000" y="2730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拒绝笼统打分，每个阶段独立评分，不只给总分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302000"/>
            <a:ext cx="4826000" cy="952500"/>
          </a:xfrm>
          <a:prstGeom prst="roundRect">
            <a:avLst>
              <a:gd name="adj" fmla="val 10666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302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79500" y="35179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78000" y="3429000"/>
            <a:ext cx="368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量化可执行标准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78000" y="3810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建立清晰的评分细则，避免主观臆断，确保公平性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381500"/>
            <a:ext cx="4826000" cy="952500"/>
          </a:xfrm>
          <a:prstGeom prst="roundRect">
            <a:avLst>
              <a:gd name="adj" fmla="val 10666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81500"/>
            <a:ext cx="76200" cy="9525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79500" y="4597400"/>
            <a:ext cx="508000" cy="508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778000" y="4508500"/>
            <a:ext cx="368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过程重于结果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778000" y="4889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重点考察分析思路与解决路径，不只关注最终答案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461000"/>
            <a:ext cx="4826000" cy="952500"/>
          </a:xfrm>
          <a:prstGeom prst="roundRect">
            <a:avLst>
              <a:gd name="adj" fmla="val 10666"/>
            </a:avLst>
          </a:prstGeom>
          <a:solidFill>
            <a:srgbClr val="F5F7F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5461000"/>
            <a:ext cx="76200" cy="9525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79500" y="5676900"/>
            <a:ext cx="508000" cy="508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1778000" y="5588000"/>
            <a:ext cx="368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聚焦短板导向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778000" y="5969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重点识别能力盲区与漏洞，针对性促进能力提升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096000" y="1143000"/>
            <a:ext cx="5461000" cy="5207000"/>
          </a:xfrm>
          <a:prstGeom prst="roundRect">
            <a:avLst>
              <a:gd name="adj" fmla="val 292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50000" y="13970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具体评分规则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50000" y="1905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50000" y="2222500"/>
            <a:ext cx="4953000" cy="952500"/>
          </a:xfrm>
          <a:prstGeom prst="roundRect">
            <a:avLst>
              <a:gd name="adj" fmla="val 10666"/>
            </a:avLst>
          </a:prstGeom>
          <a:solidFill>
            <a:srgbClr val="F9FBFC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540500" y="2438400"/>
            <a:ext cx="508000" cy="508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239000" y="23495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基础计分标准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239000" y="2730500"/>
            <a:ext cx="393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采用百分制换算，每题满分10分，五阶段综合总分30分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50000" y="3302000"/>
            <a:ext cx="4953000" cy="1143000"/>
          </a:xfrm>
          <a:prstGeom prst="roundRect">
            <a:avLst>
              <a:gd name="adj" fmla="val 8888"/>
            </a:avLst>
          </a:prstGeom>
          <a:solidFill>
            <a:srgbClr val="F9FBFC">
              <a:alpha val="100000"/>
            </a:srgbClr>
          </a:solidFill>
          <a:ln w="12700" cmpd="sng" cap="flat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540500" y="3619500"/>
            <a:ext cx="508000" cy="508000"/>
          </a:xfrm>
          <a:prstGeom prst="rect">
            <a:avLst/>
          </a:prstGeom>
        </p:spPr>
      </p:pic>
      <p:sp>
        <p:nvSpPr>
          <p:cNvPr name="AutoShape 35" id="35"/>
          <p:cNvSpPr/>
          <p:nvPr/>
        </p:nvSpPr>
        <p:spPr>
          <a:xfrm rot="0" flipH="false" flipV="false">
            <a:off x="7239000" y="3429000"/>
            <a:ext cx="3937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阶段权重分配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239000" y="3810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定义问题(25%) · 拆解分析(20%) · 解决方案(20%)</a:t>
            </a: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执行复盘(25%) · 元认知(10%)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350000" y="45720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8" id="3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540500" y="4762500"/>
            <a:ext cx="406400" cy="406400"/>
          </a:xfrm>
          <a:prstGeom prst="rect">
            <a:avLst/>
          </a:prstGeom>
        </p:spPr>
      </p:pic>
      <p:sp>
        <p:nvSpPr>
          <p:cNvPr name="AutoShape 39" id="39"/>
          <p:cNvSpPr/>
          <p:nvPr/>
        </p:nvSpPr>
        <p:spPr>
          <a:xfrm rot="0" flipH="false" flipV="false">
            <a:off x="7112000" y="46990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致命扣分点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112000" y="50165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严重逻辑错误 / 数据造假 / 关键步骤缺失 → 该题直接0分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6350000" y="5524500"/>
            <a:ext cx="4953000" cy="825500"/>
          </a:xfrm>
          <a:prstGeom prst="roundRect">
            <a:avLst>
              <a:gd name="adj" fmla="val 12307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540500" y="5715000"/>
            <a:ext cx="406400" cy="406400"/>
          </a:xfrm>
          <a:prstGeom prst="rect">
            <a:avLst/>
          </a:prstGeom>
        </p:spPr>
      </p:pic>
      <p:sp>
        <p:nvSpPr>
          <p:cNvPr name="AutoShape 43" id="43"/>
          <p:cNvSpPr/>
          <p:nvPr/>
        </p:nvSpPr>
        <p:spPr>
          <a:xfrm rot="0" flipH="false" flipV="false">
            <a:off x="7112000" y="5651500"/>
            <a:ext cx="4064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🚫 一票否决项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7112000" y="5969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涉及安全合规红线问题，无论得分多少，整体结果判定不合格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评级与业务表现对应关系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0"/>
            <a:ext cx="3556000" cy="4953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3556000" cy="1143000"/>
          </a:xfrm>
          <a:prstGeom prst="roundRect">
            <a:avLst>
              <a:gd name="adj" fmla="val 13333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98500" y="14605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25-30分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286000" y="1549400"/>
            <a:ext cx="114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优秀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98500" y="2667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📊 预期业务表现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13750" flipH="false" flipV="false">
            <a:off x="69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98500" y="3429000"/>
            <a:ext cx="317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独立处理90%以上的日常事务需求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用户人工求助率控制在 ≤12% 范围内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4699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🚀 上线决策建议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5207000"/>
            <a:ext cx="3175000" cy="762000"/>
          </a:xfrm>
          <a:prstGeom prst="roundRect">
            <a:avLst>
              <a:gd name="adj" fmla="val 13333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5500" y="5334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B5E2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建议：立即上线，全面推广使用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1270000"/>
            <a:ext cx="3556000" cy="4953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18000" y="1270000"/>
            <a:ext cx="3556000" cy="1143000"/>
          </a:xfrm>
          <a:prstGeom prst="roundRect">
            <a:avLst>
              <a:gd name="adj" fmla="val 13333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08500" y="14605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18-24分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1549400"/>
            <a:ext cx="114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合格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08500" y="2667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📈 预期业务表现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3750" flipH="false" flipV="false">
            <a:off x="450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4508500" y="3429000"/>
            <a:ext cx="317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可稳定处理60%-80%的标准日常事务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用户人工求助率需控制在 ≤20% 以内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08500" y="4699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🔧 上线决策建议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08500" y="5207000"/>
            <a:ext cx="3175000" cy="762000"/>
          </a:xfrm>
          <a:prstGeom prst="roundRect">
            <a:avLst>
              <a:gd name="adj" fmla="val 13333"/>
            </a:avLst>
          </a:prstGeom>
          <a:solidFill>
            <a:srgbClr val="E0F2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35500" y="5334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建议：修复核心问题后，分批灰度上线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28000" y="1270000"/>
            <a:ext cx="3556000" cy="4953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1270000"/>
            <a:ext cx="3556000" cy="1143000"/>
          </a:xfrm>
          <a:prstGeom prst="roundRect">
            <a:avLst>
              <a:gd name="adj" fmla="val 13333"/>
            </a:avLst>
          </a:prstGeom>
          <a:solidFill>
            <a:srgbClr val="EF535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18500" y="14605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&lt; 18分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906000" y="1549400"/>
            <a:ext cx="1143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不合格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18500" y="2667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📉 预期业务表现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-13750" flipH="false" flipV="false">
            <a:off x="8318513" y="3168650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E6E6E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8318500" y="3429000"/>
            <a:ext cx="317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仅支持基础关键词搜索与简单事项提醒</a:t>
            </a: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用户人工求助率较高，通常 &gt; 35%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318500" y="46990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62828"/>
                </a:solidFill>
                <a:latin typeface="Noto Sans SC"/>
                <a:ea typeface="Noto Sans SC"/>
                <a:cs typeface="Noto Sans SC"/>
                <a:sym typeface="Noto Sans SC"/>
              </a:rPr>
              <a:t>🔴 上线决策建议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18500" y="5207000"/>
            <a:ext cx="3175000" cy="762000"/>
          </a:xfrm>
          <a:prstGeom prst="roundRect">
            <a:avLst>
              <a:gd name="adj" fmla="val 13333"/>
            </a:avLst>
          </a:prstGeom>
          <a:solidFill>
            <a:srgbClr val="FFEBE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445500" y="5334000"/>
            <a:ext cx="292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71C1C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建议：暂缓上线，需重新优化模型逻辑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应用案例：电力企业大脑评测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143000"/>
            <a:ext cx="11176000" cy="889000"/>
          </a:xfrm>
          <a:prstGeom prst="roundRect">
            <a:avLst>
              <a:gd name="adj" fmla="val 17142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27000" algn="tl" rotWithShape="false">
              <a:srgbClr val="004D4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3716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97000" y="13335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知识查询自动解决率</a:t>
            </a:r>
            <a:r>
              <a:rPr lang="en-US" b="true" i="false" strike="noStrike" u="none" sz="2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85%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5285450" flipH="false" flipV="false">
            <a:off x="4381500" y="1581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26000" y="13716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461000" y="1333500"/>
            <a:ext cx="254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人工求助率控制在</a:t>
            </a:r>
            <a:r>
              <a:rPr lang="en-US" b="true" i="false" strike="noStrike" u="none" sz="2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≤15%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285450" flipH="false" flipV="false">
            <a:off x="7937500" y="15812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13716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9017000" y="1333500"/>
            <a:ext cx="241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新员工上手时间缩短</a:t>
            </a:r>
            <a:r>
              <a:rPr lang="en-US" b="true" i="false" strike="noStrike" u="none" sz="2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50%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2540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14400" y="26924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651000" y="2603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明确制度查询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51000" y="30480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基础题 / BASIC LEVEL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556000"/>
            <a:ext cx="3048000" cy="1524000"/>
          </a:xfrm>
          <a:prstGeom prst="roundRect">
            <a:avLst>
              <a:gd name="adj" fmla="val 6666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3683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“我是变电运维班的小王。请问10kV开关柜的日常巡检周期是多少？每次巡检需要检查哪些关键项目？有没有什么特别的注意事项？”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334000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004D4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54102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4D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场景特征：标准化、确定性查询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31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572000" y="2540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724400" y="26924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5461000" y="2603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跨文档知识整合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461000" y="30480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进阶题 / ADVANCED LEVEL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72000" y="3556000"/>
            <a:ext cx="3048000" cy="1524000"/>
          </a:xfrm>
          <a:prstGeom prst="roundRect">
            <a:avLst>
              <a:gd name="adj" fmla="val 6666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762500" y="3683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“2号主变巡检发现油温异常升高至85℃。请问这种情况应该怎么处理？需要走哪些审批流程？有没有什么紧急情况下的应急预案？”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572000" y="5334000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004D4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99000" y="54102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4D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场景特征：问题解决、流程联动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28000" y="2286000"/>
            <a:ext cx="3556000" cy="4064000"/>
          </a:xfrm>
          <a:prstGeom prst="roundRect">
            <a:avLst>
              <a:gd name="adj" fmla="val 428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82000" y="2540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E8F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534400" y="2692400"/>
            <a:ext cx="406400" cy="406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9271000" y="2603500"/>
            <a:ext cx="215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多意图模糊需求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9271000" y="3048000"/>
            <a:ext cx="2159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高难度 / EXPERT LEVEL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82000" y="3556000"/>
            <a:ext cx="3048000" cy="1524000"/>
          </a:xfrm>
          <a:prstGeom prst="roundRect">
            <a:avLst>
              <a:gd name="adj" fmla="val 6666"/>
            </a:avLst>
          </a:prstGeom>
          <a:solidFill>
            <a:srgbClr val="F0F2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572500" y="3683000"/>
            <a:ext cx="266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“需要准备下周例会材料，找一下今年安全生产要求、2026年大修计划审批流程、总经理办公会讲话要点，以及35kV线路的大修预算标准。”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382000" y="5334000"/>
            <a:ext cx="3048000" cy="457200"/>
          </a:xfrm>
          <a:prstGeom prst="roundRect">
            <a:avLst>
              <a:gd name="adj" fmla="val 50000"/>
            </a:avLst>
          </a:prstGeom>
          <a:solidFill>
            <a:srgbClr val="004D40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09000" y="54102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4D4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场景特征：多任务、信息聚合、决策辅助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五阶段逐步骤评分示例（基础题）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0"/>
            <a:ext cx="11176000" cy="495300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2540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5240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五阶段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1524000"/>
            <a:ext cx="127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满分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699000" y="1524000"/>
            <a:ext cx="127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得分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15240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扣分说明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286000"/>
            <a:ext cx="10668000" cy="660400"/>
          </a:xfrm>
          <a:prstGeom prst="roundRect">
            <a:avLst>
              <a:gd name="adj" fmla="val 15384"/>
            </a:avLst>
          </a:prstGeom>
          <a:solidFill>
            <a:srgbClr val="F0F8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286000"/>
            <a:ext cx="228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定义问题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302000" y="22860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22860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2分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096000" y="2286000"/>
            <a:ext cx="482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正确理解用户需要，产出符合规范的巡检指南框架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073400"/>
            <a:ext cx="10668000" cy="660400"/>
          </a:xfrm>
          <a:prstGeom prst="roundRect">
            <a:avLst>
              <a:gd name="adj" fmla="val 15384"/>
            </a:avLst>
          </a:prstGeom>
          <a:solidFill>
            <a:srgbClr val="FFFA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3073400"/>
            <a:ext cx="228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拆解问题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302000" y="30734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2分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30734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9800"/>
                </a:solidFill>
                <a:latin typeface="Noto Sans SC"/>
                <a:ea typeface="Noto Sans SC"/>
                <a:cs typeface="Noto Sans SC"/>
                <a:sym typeface="Noto Sans SC"/>
              </a:rPr>
              <a:t>1.5分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096000" y="3073400"/>
            <a:ext cx="482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核心要素基本覆盖，但遗漏了“巡检记录填写规范”的关键要求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860800"/>
            <a:ext cx="10668000" cy="660400"/>
          </a:xfrm>
          <a:prstGeom prst="roundRect">
            <a:avLst>
              <a:gd name="adj" fmla="val 15384"/>
            </a:avLst>
          </a:prstGeom>
          <a:solidFill>
            <a:srgbClr val="F0F8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3860800"/>
            <a:ext cx="228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方案生成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302000" y="38608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3分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38608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3分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096000" y="3860800"/>
            <a:ext cx="482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方案严谨，准确引用最新的《2025版设备巡检通用规程》，排除旧版干扰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648200"/>
            <a:ext cx="10668000" cy="660400"/>
          </a:xfrm>
          <a:prstGeom prst="roundRect">
            <a:avLst>
              <a:gd name="adj" fmla="val 15384"/>
            </a:avLst>
          </a:prstGeom>
          <a:solidFill>
            <a:srgbClr val="F0F8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" y="4648200"/>
            <a:ext cx="228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执行落地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302000" y="46482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2分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99000" y="4648200"/>
            <a:ext cx="1270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2分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096000" y="4648200"/>
            <a:ext cx="4826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步骤清晰可执行，完整列出了巡检周期、核心项目清单及关键注意事项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62000" y="5435600"/>
            <a:ext cx="10668000" cy="558800"/>
          </a:xfrm>
          <a:prstGeom prst="roundRect">
            <a:avLst>
              <a:gd name="adj" fmla="val 18181"/>
            </a:avLst>
          </a:prstGeom>
          <a:solidFill>
            <a:srgbClr val="F0F8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9000" y="5435600"/>
            <a:ext cx="228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元认知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3302000" y="5435600"/>
            <a:ext cx="127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1分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99000" y="5435600"/>
            <a:ext cx="1270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1分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096000" y="5435600"/>
            <a:ext cx="482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具备自我修正意识，主动标注了信息来源并补充了通用异常说明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381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最终评估结论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143000"/>
            <a:ext cx="5588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587500"/>
            <a:ext cx="1397000" cy="1397000"/>
          </a:xfrm>
          <a:prstGeom prst="ellipse">
            <a:avLst/>
          </a:prstGeom>
          <a:solidFill>
            <a:srgbClr val="004D40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1905000"/>
            <a:ext cx="762000" cy="762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587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综合评估总得分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286000" y="2095500"/>
            <a:ext cx="330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6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27/30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143000"/>
            <a:ext cx="5588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1587500"/>
            <a:ext cx="1397000" cy="1397000"/>
          </a:xfrm>
          <a:prstGeom prst="ellipse">
            <a:avLst/>
          </a:prstGeom>
          <a:solidFill>
            <a:srgbClr val="00E67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94500" y="1905000"/>
            <a:ext cx="762000" cy="762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8128000" y="15875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系统整体性能评级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1590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优秀 (S)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3810000"/>
            <a:ext cx="5588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" y="4000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预期核心业务指标表现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" y="4572000"/>
            <a:ext cx="1651000" cy="1143000"/>
          </a:xfrm>
          <a:prstGeom prst="roundRect">
            <a:avLst>
              <a:gd name="adj" fmla="val 8888"/>
            </a:avLst>
          </a:prstGeom>
          <a:solidFill>
            <a:srgbClr val="F0F9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" y="4699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143000" y="4699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人工求助率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143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≤ 10%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2413000" y="4572000"/>
            <a:ext cx="1651000" cy="1143000"/>
          </a:xfrm>
          <a:prstGeom prst="roundRect">
            <a:avLst>
              <a:gd name="adj" fmla="val 8888"/>
            </a:avLst>
          </a:prstGeom>
          <a:solidFill>
            <a:srgbClr val="F0F9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2540000" y="46990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2921000" y="46990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回答准确率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540000" y="5143500"/>
            <a:ext cx="139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≥ 92%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191000" y="4572000"/>
            <a:ext cx="1524000" cy="1143000"/>
          </a:xfrm>
          <a:prstGeom prst="roundRect">
            <a:avLst>
              <a:gd name="adj" fmla="val 8888"/>
            </a:avLst>
          </a:prstGeom>
          <a:solidFill>
            <a:srgbClr val="F0F9F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318000" y="4699000"/>
            <a:ext cx="304800" cy="3048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4699000" y="4699000"/>
            <a:ext cx="88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上手提速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318000" y="5143500"/>
            <a:ext cx="127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60% ↑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3810000"/>
            <a:ext cx="5588000" cy="2413000"/>
          </a:xfrm>
          <a:prstGeom prst="roundRect">
            <a:avLst>
              <a:gd name="adj" fmla="val 842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032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4000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上线实施与后续建议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4572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F0F9F8">
              <a:alpha val="100000"/>
            </a:srgbClr>
          </a:solidFill>
          <a:ln w="12700" cmpd="sng" cap="flat">
            <a:solidFill>
              <a:srgbClr val="00E67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67500" y="4826000"/>
            <a:ext cx="508000" cy="5080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7366000" y="4762500"/>
            <a:ext cx="3937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建议：立即全量上线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366000" y="5207000"/>
            <a:ext cx="393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上线后持续收集反馈，重点优化“巡检记录”等场景的话术细节，确保长期稳定运行。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08000" y="381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常见评测误区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1270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27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1524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152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只测功能点，不测完整闭环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397000" y="203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这是最常见的错误。零散的功能点测试无法反映系统全貌，只有完整的真实业务闭环才能看出系统的真实能力。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318000" y="1270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18000" y="127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4572000" y="1524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152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只看结果，不看过程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07000" y="203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结果好不一定代表能力强。模型可能只是恰好“记住”了训练数据中的答案，而不是真正具备了推理和解决问题的能力。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270000"/>
            <a:ext cx="3556000" cy="2032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270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382000" y="1524000"/>
            <a:ext cx="457200" cy="457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9017000" y="15240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用假设性问题，不用真实问题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017000" y="2032000"/>
            <a:ext cx="254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避免问“如果遇到XX”，应聚焦“现在就遇到了XX”。真实的业务场景数据，才能测试出模型在实际工作中的表现。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3683000"/>
            <a:ext cx="5461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" y="39370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397000" y="3937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追求完美，忽略核心价值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397000" y="4445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评测的目的不是为了找出所有微小的bug，而是要预测系统上线后，能否满足核心业务需求，带来实际的商业价值。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3683000"/>
            <a:ext cx="54610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3683000"/>
            <a:ext cx="76200" cy="1778000"/>
          </a:xfrm>
          <a:prstGeom prst="roundRect">
            <a:avLst>
              <a:gd name="adj" fmla="val 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477000" y="3937000"/>
            <a:ext cx="457200" cy="457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112000" y="3937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忽略安全与合规底线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12000" y="4445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对于企业级智能系统，安全与合规是不可逾越的红线。在任何阶段，它的重要性都优先于单纯的功能丰富度和用户体验。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381000" y="381000"/>
            <a:ext cx="1143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381000" y="1270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35000" y="1524000"/>
            <a:ext cx="711200" cy="711200"/>
          </a:xfrm>
          <a:prstGeom prst="ellipse">
            <a:avLst/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87400" y="16764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460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通用性 Universal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1905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打破场景限制，适用于所有类型的智能系统效能评估，同时兼容人类员工的能力考核标准。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" y="2667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" y="2921000"/>
            <a:ext cx="711200" cy="711200"/>
          </a:xfrm>
          <a:prstGeom prst="ellipse">
            <a:avLst/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87400" y="30734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2857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客观性 Objective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3302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拒绝主观臆断，完全基于真实的业务场景数据和可量化的评估标准，结果公平公正。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1000" y="4064000"/>
            <a:ext cx="5207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" y="4318000"/>
            <a:ext cx="711200" cy="711200"/>
          </a:xfrm>
          <a:prstGeom prst="ellipse">
            <a:avLst/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87400" y="44704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524000" y="42545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高效性 Efficient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4699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流程极度精简，仅需3个核心题目，1-2小时即可完成一次全面、深度的系统能力评估。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1000" y="5461000"/>
            <a:ext cx="5207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" y="5651500"/>
            <a:ext cx="711200" cy="711200"/>
          </a:xfrm>
          <a:prstGeom prst="ellipse">
            <a:avLst/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87400" y="58039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5588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指导性 Instructive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524000" y="5969000"/>
            <a:ext cx="368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精准定位系统的能力短板与薄弱环节，为后续的迭代优化提供明确的方向指引。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842000" y="1270000"/>
            <a:ext cx="5842000" cy="5334000"/>
          </a:xfrm>
          <a:prstGeom prst="roundRect">
            <a:avLst>
              <a:gd name="adj" fmla="val 3809"/>
            </a:avLst>
          </a:prstGeom>
          <a:solidFill>
            <a:srgbClr val="004D40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76200" blurRad="254000" algn="tl" rotWithShape="false">
              <a:srgbClr val="000000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23000" y="165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 · Final Value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223000" y="2413000"/>
            <a:ext cx="508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彻底摆脱传统测试中“测试通过率很高，但上线后不好用”的尴尬困境，将技术指标与业务目标深度对齐。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3683000"/>
            <a:ext cx="5080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E67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223000" y="3937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评测即业务验证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223000" y="5207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确保每一次的技术投入都能转化为实实在在的</a:t>
            </a: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业务增长与价值产出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1524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00E676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921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04D40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谢谢大家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461000" y="3937000"/>
            <a:ext cx="1270000" cy="50800"/>
          </a:xfrm>
          <a:prstGeom prst="roundRect">
            <a:avLst>
              <a:gd name="adj" fmla="val 50000"/>
            </a:avLst>
          </a:prstGeom>
          <a:solidFill>
            <a:srgbClr val="00E67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445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提问与交流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54610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99999"/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WATCHING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